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038"/>
                </a:solidFill>
                <a:latin typeface="Arial"/>
              </a:defRPr>
            </a:pPr>
            <a:r>
              <a:t>Nyam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t>내 기록이 만드는 신뢰할 수 있는 맛집 네트워크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47695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Arial"/>
              </a:defRPr>
            </a:pPr>
            <a:r>
              <a:t>Product Overview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"신뢰할 만한 맛집/와인 리뷰가 없다"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4114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377440"/>
            <a:ext cx="548640" cy="54864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하나의 거대 DB는</a:t>
            </a:r>
            <a:br/>
            <a:r>
              <a:t>반드시 오염된다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플랫폼이 커질수록 광고, 악의적 리뷰,</a:t>
            </a:r>
            <a:br/>
            <a:r>
              <a:t>무성의한 평점이 유입된다.</a:t>
            </a:r>
            <a:br/>
            <a:r>
              <a:t>이 오염을 막을 구조적 방법이 없다.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03120"/>
            <a:ext cx="3383280" cy="4114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79" y="2377440"/>
            <a:ext cx="548640" cy="54864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200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취향은</a:t>
            </a:r>
            <a:br/>
            <a:r>
              <a:t>주관적이다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389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수만 명의 평균 별점은</a:t>
            </a:r>
            <a:br/>
            <a:r>
              <a:t>"아무도의 취향"이다.</a:t>
            </a:r>
            <a:br/>
            <a:r>
              <a:t>4.5점 식당이 나에겐 실망일 수 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383280" cy="4114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2377440"/>
            <a:ext cx="548640" cy="54864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이타적 기록은</a:t>
            </a:r>
            <a:br/>
            <a:r>
              <a:t>지속되지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389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불특정 다수를 위한 반복 기록은</a:t>
            </a:r>
            <a:br/>
            <a:r>
              <a:t>지속 불가능하다.</a:t>
            </a:r>
            <a:br/>
            <a:r>
              <a:t>외재적 보상은 기록의 질을 떨어뜨린다.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각자의 신뢰 네트워크를 구축한다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거대 DB를 정화하는 건 불가능하다. 개인이 자기 기록을 쌓고, 취향이 맞는 사람을 선택적으로 팔로우하는 구조.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56032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038"/>
                </a:solidFill>
                <a:latin typeface="Arial"/>
              </a:defRPr>
            </a:pPr>
            <a:r>
              <a:t>취향 적합도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겹치는 기록의 평가 패턴을</a:t>
            </a:r>
            <a:br/>
            <a:r>
              <a:t>비교하여 취향 유사도 산출</a:t>
            </a:r>
            <a:br/>
            <a:r>
              <a:t>(0~100%)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200400"/>
            <a:ext cx="256032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038"/>
                </a:solidFill>
                <a:latin typeface="Arial"/>
              </a:defRPr>
            </a:pPr>
            <a:r>
              <a:t>신뢰도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1148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적합도의 정확성 지표</a:t>
            </a:r>
            <a:br/>
            <a:r>
              <a:t>겹치는 기록이 많을수록</a:t>
            </a:r>
            <a:br/>
            <a:r>
              <a:t>신뢰도 상승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256032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038"/>
                </a:solidFill>
                <a:latin typeface="Arial"/>
              </a:defRPr>
            </a:pPr>
            <a:r>
              <a:t>팔로우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내가 직접 선택하는</a:t>
            </a:r>
            <a:br/>
            <a:r>
              <a:t>신뢰 네트워크</a:t>
            </a:r>
            <a:br/>
            <a:r>
              <a:t>적합도 기반으로 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200400"/>
            <a:ext cx="256032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038"/>
                </a:solidFill>
                <a:latin typeface="Arial"/>
              </a:defRPr>
            </a:pPr>
            <a:r>
              <a:t>오염 방지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1148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오염원 감지 시</a:t>
            </a:r>
            <a:br/>
            <a:r>
              <a:t>언팔로우로 즉시 차단</a:t>
            </a:r>
            <a:br/>
            <a:r>
              <a:t>개인이 통제하는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FLYWHEEL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기록할수록 강력해지는 선순환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51760" cy="38404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286000"/>
            <a:ext cx="731520" cy="73152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나를 위한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가본 식당, 마신 와인을</a:t>
            </a:r>
            <a:br/>
            <a:r>
              <a:t>기록한다. 시작은 철저히</a:t>
            </a:r>
            <a:br/>
            <a:r>
              <a:t>나 자신을 위한 것.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3657600"/>
            <a:ext cx="365760" cy="274320"/>
          </a:xfrm>
          <a:prstGeom prst="rightArrow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2103120"/>
            <a:ext cx="2651760" cy="38404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2286000"/>
            <a:ext cx="731520" cy="73152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적합도 자동 산출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기록이 쌓이면 다른 유저와</a:t>
            </a:r>
            <a:br/>
            <a:r>
              <a:t>겹치는 기록이 생기고</a:t>
            </a:r>
            <a:br/>
            <a:r>
              <a:t>취향 적합도가 자동 계산된다.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26480" y="3657600"/>
            <a:ext cx="365760" cy="274320"/>
          </a:xfrm>
          <a:prstGeom prst="rightArrow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2651760" cy="38404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2286000"/>
            <a:ext cx="731520" cy="73152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팔로우로 신뢰 부스트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적합도가 높은 사람을</a:t>
            </a:r>
            <a:br/>
            <a:r>
              <a:t>팔로우하면 추천 가중치가</a:t>
            </a:r>
            <a:br/>
            <a:r>
              <a:t>올라간다.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52560" y="3657600"/>
            <a:ext cx="365760" cy="274320"/>
          </a:xfrm>
          <a:prstGeom prst="rightArrow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2103120"/>
            <a:ext cx="2651760" cy="38404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60" y="2286000"/>
            <a:ext cx="731520" cy="73152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더 나은 추천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기록 → 겹치는 데이터 증가</a:t>
            </a:r>
            <a:br/>
            <a:r>
              <a:t>→ 적합도 정확도 상승</a:t>
            </a:r>
            <a:br/>
            <a:r>
              <a:t>→ 추천 품질 향상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6126480"/>
            <a:ext cx="9418320" cy="548640"/>
          </a:xfrm>
          <a:prstGeom prst="roundRect">
            <a:avLst/>
          </a:prstGeom>
          <a:solidFill>
            <a:srgbClr val="FF6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6126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선순환: 기록 → 겹치는 데이터 증가 → 적합도 정확도 상승 → 더 좋은 추천 → 더 많은 기록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SCORING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3-Tier 점수 체계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572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762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내 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038"/>
                </a:solidFill>
                <a:latin typeface="Arial"/>
              </a:defRPr>
            </a:pPr>
            <a:r>
              <a:t>절대적, 주관적 사실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사분면 좌표 → 만족도 자동 계산</a:t>
            </a:r>
            <a:br/>
            <a:br/>
            <a:r>
              <a:t>내가 직접 경험하고 평가한 점수</a:t>
            </a:r>
            <a:br/>
            <a:r>
              <a:t>있으면 무조건 최우선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383280" cy="4572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3383280" cy="762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9CD6"/>
                </a:solidFill>
                <a:latin typeface="Arial"/>
              </a:defRPr>
            </a:pPr>
            <a:r>
              <a:t>Tier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43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Nyam 점수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69CD6"/>
                </a:solidFill>
                <a:latin typeface="Arial"/>
              </a:defRPr>
            </a:pPr>
            <a:r>
              <a:t>개인화된 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9319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전체 유저 CF + 팔로잉 부스트</a:t>
            </a:r>
            <a:br/>
            <a:br/>
            <a:r>
              <a:t>아직 가보지 않은 곳의</a:t>
            </a:r>
            <a:br/>
            <a:r>
              <a:t>"나에게 맞을 확률" 예측</a:t>
            </a:r>
            <a:br/>
            <a:r>
              <a:t>유저마다 다른 점수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383280" cy="4572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383280" cy="762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Tier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버블 점수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B0"/>
                </a:solidFill>
                <a:latin typeface="Arial"/>
              </a:defRPr>
            </a:pPr>
            <a:r>
              <a:t>맥락화된 예측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9319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버블 멤버만 대상 CF</a:t>
            </a:r>
            <a:br/>
            <a:br/>
            <a:r>
              <a:t>같은 식당이라도 어떤 버블이냐에</a:t>
            </a:r>
            <a:br/>
            <a:r>
              <a:t>따라 다른 점수</a:t>
            </a:r>
            <a:br/>
            <a:r>
              <a:t>맥락별 큐레이션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Arial"/>
              </a:defRPr>
            </a:pPr>
            <a:r>
              <a:t>네이버/구글 = 모든 유저의 산술평균 (누구나 같은 숫자)  |  Nyam = CF 기반 (같은 식당도 유저마다 다른 점수)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SIGNATURE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사분면 평가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4572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038"/>
                </a:solidFill>
                <a:latin typeface="Arial"/>
              </a:defRPr>
            </a:pPr>
            <a:r>
              <a:t>식당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1600200" cy="1600200"/>
          </a:xfrm>
          <a:prstGeom prst="rect">
            <a:avLst/>
          </a:prstGeom>
          <a:solidFill>
            <a:srgbClr val="2D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4343400"/>
            <a:ext cx="1600200" cy="16002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2743200"/>
            <a:ext cx="1600200" cy="1600200"/>
          </a:xfrm>
          <a:prstGeom prst="rect">
            <a:avLst/>
          </a:prstGeom>
          <a:solidFill>
            <a:srgbClr val="3A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4343400"/>
            <a:ext cx="1600200" cy="1600200"/>
          </a:xfrm>
          <a:prstGeom prst="rect">
            <a:avLst/>
          </a:prstGeom>
          <a:solidFill>
            <a:srgbClr val="3A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X: 음식 퀄리티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57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Y</a:t>
            </a:r>
            <a:br/>
            <a:r>
              <a:t>:</a:t>
            </a:r>
            <a:br/>
            <a:r>
              <a:t>경</a:t>
            </a:r>
            <a:br/>
            <a:r>
              <a:t>험</a:t>
            </a:r>
            <a:br/>
            <a:r>
              <a:t>만</a:t>
            </a:r>
            <a:br/>
            <a:r>
              <a:t>족</a:t>
            </a:r>
            <a:br/>
            <a:r>
              <a:t>도</a:t>
            </a:r>
          </a:p>
        </p:txBody>
      </p:sp>
      <p:sp>
        <p:nvSpPr>
          <p:cNvPr id="13" name="Oval 12"/>
          <p:cNvSpPr/>
          <p:nvPr/>
        </p:nvSpPr>
        <p:spPr>
          <a:xfrm>
            <a:off x="3341526" y="3083842"/>
            <a:ext cx="137160" cy="13716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75231" y="3609421"/>
            <a:ext cx="137160" cy="13716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98864" y="4811964"/>
            <a:ext cx="137160" cy="13716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11766" y="3248060"/>
            <a:ext cx="137160" cy="13716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64755" y="3096535"/>
            <a:ext cx="137160" cy="13716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25695" y="4357600"/>
            <a:ext cx="137160" cy="13716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16287" y="3544789"/>
            <a:ext cx="137160" cy="13716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69257" y="4462574"/>
            <a:ext cx="137160" cy="137160"/>
          </a:xfrm>
          <a:prstGeom prst="ellipse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2011680"/>
            <a:ext cx="5120640" cy="4572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038"/>
                </a:solidFill>
                <a:latin typeface="Arial"/>
              </a:defRPr>
            </a:pPr>
            <a:r>
              <a:t>사분면의 역할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CCCCCC"/>
                </a:solidFill>
                <a:latin typeface="Arial"/>
              </a:defRPr>
            </a:pPr>
            <a:r>
              <a:t>• 2D 좌표로 취향을 구조화</a:t>
            </a:r>
          </a:p>
          <a:p>
            <a:pPr>
              <a:spcBef>
                <a:spcPts val="600"/>
              </a:spcBef>
              <a:defRPr sz="1500">
                <a:solidFill>
                  <a:srgbClr val="CCCCCC"/>
                </a:solidFill>
                <a:latin typeface="Arial"/>
              </a:defRPr>
            </a:pPr>
            <a:r>
              <a:t>• 만족도 = (X + Y) / 2 자동 계산</a:t>
            </a:r>
          </a:p>
          <a:p>
            <a:pPr>
              <a:spcBef>
                <a:spcPts val="600"/>
              </a:spcBef>
              <a:defRPr sz="1500">
                <a:solidFill>
                  <a:srgbClr val="CCCCCC"/>
                </a:solidFill>
                <a:latin typeface="Arial"/>
              </a:defRPr>
            </a:pPr>
            <a:r>
              <a:t>• 기록이 쌓이면 '나만의 취향 지도' 생성</a:t>
            </a:r>
          </a:p>
          <a:p>
            <a:pPr>
              <a:spcBef>
                <a:spcPts val="600"/>
              </a:spcBef>
              <a:defRPr sz="1500">
                <a:solidFill>
                  <a:srgbClr val="CCCCCC"/>
                </a:solidFill>
                <a:latin typeface="Arial"/>
              </a:defRPr>
            </a:pPr>
            <a:r>
              <a:t>• 적합도 계산의 핵심 데이터</a:t>
            </a:r>
          </a:p>
          <a:p>
            <a:pPr>
              <a:spcBef>
                <a:spcPts val="600"/>
              </a:spcBef>
              <a:defRPr sz="1500">
                <a:solidFill>
                  <a:srgbClr val="CCCCCC"/>
                </a:solidFill>
                <a:latin typeface="Arial"/>
              </a:defRPr>
            </a:pPr>
            <a:r>
              <a:t>• &lt; 10초 기록 목표 (빠른 캡처)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600"/>
              </a:spcBef>
              <a:defRPr sz="1500" b="1">
                <a:solidFill>
                  <a:srgbClr val="569CD6"/>
                </a:solidFill>
                <a:latin typeface="Arial"/>
              </a:defRPr>
            </a:pPr>
            <a:r>
              <a:t>와인도 동일 구조:</a:t>
            </a:r>
          </a:p>
          <a:p>
            <a:pPr>
              <a:spcBef>
                <a:spcPts val="600"/>
              </a:spcBef>
              <a:defRPr sz="1500">
                <a:solidFill>
                  <a:srgbClr val="CCCCCC"/>
                </a:solidFill>
                <a:latin typeface="Arial"/>
              </a:defRPr>
            </a:pPr>
            <a:r>
              <a:t>  X축 = 구조·완성도</a:t>
            </a:r>
          </a:p>
          <a:p>
            <a:pPr>
              <a:spcBef>
                <a:spcPts val="600"/>
              </a:spcBef>
              <a:defRPr sz="1500">
                <a:solidFill>
                  <a:srgbClr val="CCCCCC"/>
                </a:solidFill>
                <a:latin typeface="Arial"/>
              </a:defRPr>
            </a:pPr>
            <a:r>
              <a:t>  Y축 = 경험 만족도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BUBBLE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버블: 큐레이션 리스트 + 맥락화된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Arial"/>
              </a:defRPr>
            </a:pPr>
            <a:r>
              <a:t>Spotify 플레이리스트처럼 자유롭게 만들고, 다른 사람의 리스트를 팔로우할 수 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210312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038"/>
                </a:solidFill>
                <a:latin typeface="Arial"/>
              </a:defRPr>
            </a:pPr>
            <a:r>
              <a:t>장르/품종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내추럴와인,</a:t>
            </a:r>
            <a:br/>
            <a:r>
              <a:t>오마카세, 이탈리안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468880"/>
            <a:ext cx="210312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038"/>
                </a:solidFill>
                <a:latin typeface="Arial"/>
              </a:defRPr>
            </a:pPr>
            <a:r>
              <a:t>지역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성수동맛집,</a:t>
            </a:r>
            <a:br/>
            <a:r>
              <a:t>제주도민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468880"/>
            <a:ext cx="210312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038"/>
                </a:solidFill>
                <a:latin typeface="Arial"/>
              </a:defRPr>
            </a:pPr>
            <a:r>
              <a:t>인간관계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대학동기,</a:t>
            </a:r>
            <a:br/>
            <a:r>
              <a:t>회사팀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59" y="2468880"/>
            <a:ext cx="210312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038"/>
                </a:solidFill>
                <a:latin typeface="Arial"/>
              </a:defRPr>
            </a:pPr>
            <a:r>
              <a:t>가치관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가성비파,</a:t>
            </a:r>
            <a:br/>
            <a:r>
              <a:t>분위기파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468880"/>
            <a:ext cx="210312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038"/>
                </a:solidFill>
                <a:latin typeface="Arial"/>
              </a:defRPr>
            </a:pPr>
            <a:r>
              <a:t>개인 목적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2026 미슐랭,</a:t>
            </a:r>
            <a:br/>
            <a:r>
              <a:t>데이트 코스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같은 식당, 다른 맥락 → 다른 점수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내추럴와인 버블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577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038"/>
                </a:solidFill>
                <a:latin typeface="Arial"/>
              </a:defRPr>
            </a:pPr>
            <a:r>
              <a:t>9.1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내추럴와인 관점에서 훌륭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가성비 버블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989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038"/>
                </a:solidFill>
                <a:latin typeface="Arial"/>
              </a:defRPr>
            </a:pPr>
            <a:r>
              <a:t>6.3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가성비 관점에선 별로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대학동기 버블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038"/>
                </a:solidFill>
                <a:latin typeface="Arial"/>
              </a:defRPr>
            </a:pPr>
            <a:r>
              <a:t>9.0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내 친구들은 여길 좋아한다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4846320"/>
            <a:ext cx="45720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038"/>
                </a:solidFill>
                <a:latin typeface="Arial"/>
              </a:defRPr>
            </a:pPr>
            <a:r>
              <a:t>버블 핵심 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949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Arial"/>
              </a:defRPr>
            </a:pPr>
            <a:r>
              <a:t>• 무한 생성 / 1인 버블 가능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Arial"/>
              </a:defRPr>
            </a:pPr>
            <a:r>
              <a:t>• 가입 정책 5종 (open ~ invite only)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Arial"/>
              </a:defRPr>
            </a:pPr>
            <a:r>
              <a:t>• 경험치 기반 가입 자격 조건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Arial"/>
              </a:defRPr>
            </a:pPr>
            <a:r>
              <a:t>• 자동/수동 큐레이션 지원</a:t>
            </a:r>
          </a:p>
          <a:p>
            <a:pPr>
              <a:spcBef>
                <a:spcPts val="300"/>
              </a:spcBef>
              <a:defRPr sz="1300">
                <a:solidFill>
                  <a:srgbClr val="CCCCCC"/>
                </a:solidFill>
                <a:latin typeface="Arial"/>
              </a:defRPr>
            </a:pPr>
            <a:r>
              <a:t>• 댓글, 리액션, 랭킹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DIFFERENTIATION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기존 앱과의 근본적 차이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548640"/>
          </a:xfrm>
          <a:prstGeom prst="roundRect">
            <a:avLst/>
          </a:prstGeom>
          <a:solidFill>
            <a:srgbClr val="FF6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기존 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Nyam의 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98480" cy="914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네이버 / 카카오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하나의 거대 DB</a:t>
            </a:r>
            <a:br/>
            <a:r>
              <a:t>출처 불명, 오염 불가피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각자의 신뢰 네트워크</a:t>
            </a:r>
            <a:br/>
            <a:r>
              <a:t>오염 시 언팔로 즉시 정리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10698480" cy="914400"/>
          </a:xfrm>
          <a:prstGeom prst="roundRect">
            <a:avLst/>
          </a:prstGeom>
          <a:solidFill>
            <a:srgbClr val="20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Vivino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886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불특정 다수 평점</a:t>
            </a:r>
            <a:br/>
            <a:r>
              <a:t>와인만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86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식당+와인 통합</a:t>
            </a:r>
            <a:br/>
            <a:r>
              <a:t>취향 적합도 기반 추천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698480" cy="914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인스타그램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93775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비구조화 데이터</a:t>
            </a:r>
            <a:br/>
            <a:r>
              <a:t>검색 불가, 과시 중심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9377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구조화된 기록</a:t>
            </a:r>
            <a:br/>
            <a:r>
              <a:t>적합도 계산 가능한 데이터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97879"/>
            <a:ext cx="10698480" cy="914400"/>
          </a:xfrm>
          <a:prstGeom prst="roundRect">
            <a:avLst/>
          </a:prstGeom>
          <a:solidFill>
            <a:srgbClr val="20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1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망고플레이트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98931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리뷰어 신뢰도 불투명</a:t>
            </a:r>
            <a:br/>
            <a:r>
              <a:t>광고 혼재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98931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겹치는 기록으로</a:t>
            </a:r>
            <a:br/>
            <a:r>
              <a:t>직접 검증된 취향 유사도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5394960"/>
            <a:ext cx="8869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기존: 리뷰를 하나의 DB에 모아서 평균내는 구조</a:t>
            </a:r>
            <a:br/>
            <a:r>
              <a:t>Nyam: 각자의 기록을 유지하고, 취향이 맞는 사람의 리스트만 선택적으로 참조하는 구조</a:t>
            </a:r>
            <a:br/>
            <a:r>
              <a:t>→ 오염 방지를 플랫폼이 아니라 개인이 통제한다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TARGET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타겟 유저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43891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038"/>
                </a:solidFill>
                <a:latin typeface="Arial"/>
              </a:defRPr>
            </a:pPr>
            <a:r>
              <a:t>PRIMARY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25-40세</a:t>
            </a:r>
            <a:br/>
            <a:r>
              <a:t>주 2회 이상 외식</a:t>
            </a:r>
            <a:br/>
            <a:r>
              <a:t>기록 습관 있거나 만들고 싶은 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맛집 갈 때 인스타/블로그/지인에게 물어봄</a:t>
            </a:r>
          </a:p>
          <a:p>
            <a:pPr>
              <a:spcBef>
                <a:spcPts val="600"/>
              </a:spcBef>
              <a:defRPr sz="1400">
                <a:solidFill>
                  <a:srgbClr val="FF8C69"/>
                </a:solidFill>
                <a:latin typeface="Arial"/>
              </a:defRPr>
            </a:pPr>
            <a:r>
              <a:t>  → 신뢰할 만한 정보를 찾기 어려움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좋은 곳 발견해도 기록 안 하면 잊어버림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모임에서 '거기 어땠어?' → 기억이 흐릿함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네이버 4.5점 보고 갔는데 실망 반복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43891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9CD6"/>
                </a:solidFill>
                <a:latin typeface="Arial"/>
              </a:defRPr>
            </a:pPr>
            <a:r>
              <a:t>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와인 입문~중급</a:t>
            </a:r>
            <a:br/>
            <a:r>
              <a:t>와인 모임 참여자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와인은 더 심함</a:t>
            </a:r>
          </a:p>
          <a:p>
            <a:pPr>
              <a:spcBef>
                <a:spcPts val="500"/>
              </a:spcBef>
              <a:defRPr sz="1400">
                <a:solidFill>
                  <a:srgbClr val="FF8C69"/>
                </a:solidFill>
                <a:latin typeface="Arial"/>
              </a:defRPr>
            </a:pPr>
            <a:r>
              <a:t>  → 라벨 사진만 남기고 맛 기억은 사라짐</a:t>
            </a:r>
          </a:p>
          <a:p/>
          <a:p>
            <a:pPr>
              <a:spcBef>
                <a:spcPts val="500"/>
              </a:spcBef>
              <a:defRPr sz="1500" b="1">
                <a:solidFill>
                  <a:srgbClr val="569CD6"/>
                </a:solidFill>
                <a:latin typeface="Arial"/>
              </a:defRPr>
            </a:pPr>
            <a:r>
              <a:t>와인 전용 기능:</a:t>
            </a:r>
          </a:p>
          <a:p>
            <a:pPr>
              <a:spcBef>
                <a:spcPts val="5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아로마 휠 (WSET L3 기준)</a:t>
            </a:r>
          </a:p>
          <a:p>
            <a:pPr>
              <a:spcBef>
                <a:spcPts val="5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BLIC 품질 평가</a:t>
            </a:r>
          </a:p>
          <a:p>
            <a:pPr>
              <a:spcBef>
                <a:spcPts val="5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7종 타입 분류</a:t>
            </a:r>
          </a:p>
          <a:p>
            <a:pPr>
              <a:spcBef>
                <a:spcPts val="500"/>
              </a:spcBef>
              <a:defRPr sz="1400">
                <a:solidFill>
                  <a:srgbClr val="CCCCCC"/>
                </a:solidFill>
                <a:latin typeface="Arial"/>
              </a:defRPr>
            </a:pPr>
            <a:r>
              <a:t>• 페어링 8종 카테고리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TECH STACK &amp;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기술 스택 &amp; 성공 지표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4572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038"/>
                </a:solidFill>
                <a:latin typeface="Arial"/>
              </a:defRPr>
            </a:pPr>
            <a:r>
              <a:t>기술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FF6038"/>
                </a:solidFill>
                <a:latin typeface="Arial"/>
              </a:rPr>
              <a:t/>
            </a:r>
            <a:r>
              <a:rPr sz="1400">
                <a:solidFill>
                  <a:srgbClr val="CCCCCC"/>
                </a:solidFill>
                <a:latin typeface="Arial"/>
              </a:rPr>
              <a:t>Next.js + TypeScript + Tailwind + shadcn/ui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6038"/>
                </a:solidFill>
                <a:latin typeface="Arial"/>
              </a:rPr>
              <a:t>Backend: </a:t>
            </a:r>
            <a:r>
              <a:rPr sz="1400">
                <a:solidFill>
                  <a:srgbClr val="CCCCCC"/>
                </a:solidFill>
                <a:latin typeface="Arial"/>
              </a:rPr>
              <a:t>Supabase (PostgreSQL + Auth + RLS + Edge Functions)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6038"/>
                </a:solidFill>
                <a:latin typeface="Arial"/>
              </a:rPr>
              <a:t>AI/LLM: </a:t>
            </a:r>
            <a:r>
              <a:rPr sz="1400">
                <a:solidFill>
                  <a:srgbClr val="CCCCCC"/>
                </a:solidFill>
                <a:latin typeface="Arial"/>
              </a:rPr>
              <a:t>Gemini Vision (사진 분석, OCR, 검색)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6038"/>
                </a:solidFill>
                <a:latin typeface="Arial"/>
              </a:rPr>
              <a:t>외부 API: </a:t>
            </a:r>
            <a:r>
              <a:rPr sz="1400">
                <a:solidFill>
                  <a:srgbClr val="CCCCCC"/>
                </a:solidFill>
                <a:latin typeface="Arial"/>
              </a:rPr>
              <a:t>카카오맵, 네이버 지도, 구글 Places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6038"/>
                </a:solidFill>
                <a:latin typeface="Arial"/>
              </a:rPr>
              <a:t>모바일: </a:t>
            </a:r>
            <a:r>
              <a:rPr sz="1400">
                <a:solidFill>
                  <a:srgbClr val="CCCCCC"/>
                </a:solidFill>
                <a:latin typeface="Arial"/>
              </a:rPr>
              <a:t>PWA 우선, 네이티브 전환 검토 (Phase 3+)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6038"/>
                </a:solidFill>
                <a:latin typeface="Arial"/>
              </a:rPr>
              <a:t>추천: </a:t>
            </a:r>
            <a:r>
              <a:rPr sz="1400">
                <a:solidFill>
                  <a:srgbClr val="CCCCCC"/>
                </a:solidFill>
                <a:latin typeface="Arial"/>
              </a:rPr>
              <a:t>User-based CF (Mean-centered Euclidean)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4572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Arial"/>
              </a:defRPr>
            </a:pPr>
            <a:r>
              <a:t>성공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온보딩 완료율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&gt;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진입 장벽이 낮은가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D7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&gt;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기록 습관이 형성되는가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D30 기록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&gt;= 10개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지속적으로 기록하는가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평균 기록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26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&lt; 10초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기록이 충분히 쉬운가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팔로우 전환율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5120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&gt; 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신뢰 네트워크 구축하는가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적합도 기반 방문율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715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&gt; 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571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추천이 행동으로 이어지는가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시뮬레이션 검증 결과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5176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038"/>
                </a:solidFill>
                <a:latin typeface="Arial"/>
              </a:defRPr>
            </a:pPr>
            <a:r>
              <a:t>63.9%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Nyam CF vs 단순 평균</a:t>
            </a:r>
            <a:br/>
            <a:r>
              <a:t>MAE 4.3 vs 11.8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65176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038"/>
                </a:solidFill>
                <a:latin typeface="Arial"/>
              </a:defRPr>
            </a:pPr>
            <a:r>
              <a:t>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MAE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오염 50명(33%) 투입해도</a:t>
            </a:r>
            <a:br/>
            <a:r>
              <a:t>영향 미미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265176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038"/>
                </a:solidFill>
                <a:latin typeface="Arial"/>
              </a:defRPr>
            </a:pPr>
            <a:r>
              <a:t>&lt; 20ms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예측 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이벤트 기반 증분 처리</a:t>
            </a:r>
            <a:br/>
            <a:r>
              <a:t>10만 명 스케일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65176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038"/>
                </a:solidFill>
                <a:latin typeface="Arial"/>
              </a:defRPr>
            </a:pPr>
            <a:r>
              <a:t>8개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콜드스타트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74903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기록 8개 이상부터</a:t>
            </a:r>
            <a:br/>
            <a:r>
              <a:t>MAE &lt; 5점 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669280"/>
            <a:ext cx="10332720" cy="914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6072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Arial"/>
              </a:defRPr>
            </a:pPr>
            <a:r>
              <a:t>오염 자동 감쇠: 정직↔오염 적합도 0.30  vs  정직↔정직 적합도 0.78 (gap 0.48)</a:t>
            </a:r>
            <a:br/>
            <a:r>
              <a:t>→ 오염 유저는 자연스럽게 낮은 적합도를 받아 추천에서 배제된다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038"/>
                </a:solidFill>
                <a:latin typeface="Arial"/>
              </a:defRPr>
            </a:pPr>
            <a:r>
              <a:t>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핵심 설계 원칙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21031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03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신뢰는 적합도에서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겹치는 기록을 대조해서 검증된 취향 유사도만이 진짜 신뢰다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566160" cy="21031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03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오염 방지는 개인이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거대 DB를 정화하지 않는다. 각자가 자기 네트워크를 관리한다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66160" cy="21031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03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기록 = 네트워크 강화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기록할수록 겹치는 데이터가 늘고 추천이 정확해진다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3566160" cy="21031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03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동기는 이기적으로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모든 기능은 '나에게 먼저 가치를 주는가?'가 최우선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480560"/>
            <a:ext cx="3566160" cy="21031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03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기록이 쉬워야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03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10초 이상 걸리면 플라이휠이 돌지 않는다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480560"/>
            <a:ext cx="3566160" cy="21031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038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연결은 유동적으로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03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팔로우/언팔은 자유롭고 즉각적. 오염원 감지 시 끊으면 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038"/>
                </a:solidFill>
                <a:latin typeface="Arial"/>
              </a:defRPr>
            </a:pPr>
            <a:r>
              <a:t>Nyam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Arial"/>
              </a:defRPr>
            </a:pPr>
            <a:r>
              <a:t>"각자의 기록이 겹치는 데이터를 통해 취향 적합도를 계산하고,</a:t>
            </a:r>
            <a:br/>
            <a:r>
              <a:t>적합도가 높은 사람들의 리스트를 모아</a:t>
            </a:r>
            <a:br/>
            <a:r>
              <a:t>나만의 신뢰할 수 있는 맛집/와인 네트워크를 구축하는 구조"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047695" cy="50800"/>
          </a:xfrm>
          <a:prstGeom prst="rect">
            <a:avLst/>
          </a:prstGeom>
          <a:solidFill>
            <a:srgbClr val="FF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